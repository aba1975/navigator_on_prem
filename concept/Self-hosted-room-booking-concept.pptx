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CONCEPT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50592"/>
            <a:ext cx="10241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Self-hosted room booking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for Cisco RoomOS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9AA4B2"/>
                </a:solidFill>
                <a:latin typeface="Segoe UI"/>
              </a:rPr>
              <a:t>Keeping the Cisco panels and video devices. Removing the Webex cloud entirely.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9AA4B2"/>
                </a:solidFill>
                <a:latin typeface="Segoe UI"/>
              </a:rPr>
              <a:t>Booking data stays in Exchange Online, reached directly over Microsoft Graph.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257800"/>
            <a:ext cx="2286000" cy="384048"/>
          </a:xfrm>
          <a:prstGeom prst="roundRect">
            <a:avLst>
              <a:gd name="adj" fmla="val 35000"/>
            </a:avLst>
          </a:prstGeom>
          <a:solidFill>
            <a:srgbClr val="10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5340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4ADE80"/>
                </a:solidFill>
                <a:latin typeface="Segoe UI"/>
              </a:rPr>
              <a:t>Provisioning Mode: 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5257800"/>
            <a:ext cx="2103120" cy="384048"/>
          </a:xfrm>
          <a:prstGeom prst="roundRect">
            <a:avLst>
              <a:gd name="adj" fmla="val 35000"/>
            </a:avLst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29000" y="534009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93C5FD"/>
                </a:solidFill>
                <a:latin typeface="Segoe UI"/>
              </a:rPr>
              <a:t>Persistent Web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5257800"/>
            <a:ext cx="1920240" cy="384048"/>
          </a:xfrm>
          <a:prstGeom prst="roundRect">
            <a:avLst>
              <a:gd name="adj" fmla="val 35000"/>
            </a:avLst>
          </a:prstGeom>
          <a:solidFill>
            <a:srgbClr val="2A2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0" y="534009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FBBF24"/>
                </a:solidFill>
                <a:latin typeface="Segoe UI"/>
              </a:rPr>
              <a:t>Manual LED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5257800"/>
            <a:ext cx="2103120" cy="384048"/>
          </a:xfrm>
          <a:prstGeom prst="roundRect">
            <a:avLst>
              <a:gd name="adj" fmla="val 35000"/>
            </a:avLst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26679" y="534009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93C5FD"/>
                </a:solidFill>
                <a:latin typeface="Segoe UI"/>
              </a:rPr>
              <a:t>Microsoft 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The constraint, and what we are protecting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Webex is no longer available to us. The hardware and the calendar 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3456432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057400"/>
            <a:ext cx="3456432" cy="685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3317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B26"/>
                </a:solidFill>
                <a:latin typeface="Segoe UI"/>
              </a:rPr>
              <a:t>Webex cloud is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16352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475261"/>
                </a:solidFill>
                <a:latin typeface="Segoe UI"/>
              </a:rPr>
              <a:t>No Control Hub registration, no Hybrid Calendar,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475261"/>
                </a:solidFill>
                <a:latin typeface="Segoe UI"/>
              </a:rPr>
              <a:t>no Webex device management or analytics.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475261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475261"/>
                </a:solidFill>
                <a:latin typeface="Segoe UI"/>
              </a:rPr>
              <a:t>This is a hard constraint, not a preference.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2057400"/>
            <a:ext cx="3456432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70831" y="2057400"/>
            <a:ext cx="3456432" cy="685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45151" y="23317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B26"/>
                </a:solidFill>
                <a:latin typeface="Segoe UI"/>
              </a:rPr>
              <a:t>Cisco hardware stays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1" y="2816352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475261"/>
                </a:solidFill>
                <a:latin typeface="Segoe UI"/>
              </a:rPr>
              <a:t>Room Navigator panels and RoomOS video devices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475261"/>
                </a:solidFill>
                <a:latin typeface="Segoe UI"/>
              </a:rPr>
              <a:t>are a significant investment and work well.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475261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475261"/>
                </a:solidFill>
                <a:latin typeface="Segoe UI"/>
              </a:rPr>
              <a:t>We keep every device, including the LED strips.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2057400"/>
            <a:ext cx="3456432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83296" y="2057400"/>
            <a:ext cx="3456432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57616" y="23317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B26"/>
                </a:solidFill>
                <a:latin typeface="Segoe UI"/>
              </a:rPr>
              <a:t>Calendar stays in M365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816352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475261"/>
                </a:solidFill>
                <a:latin typeface="Segoe UI"/>
              </a:rPr>
              <a:t>Room mailboxes in Exchange Online remain the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475261"/>
                </a:solidFill>
                <a:latin typeface="Segoe UI"/>
              </a:rPr>
              <a:t>system of record. Users keep booking in Outlook.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475261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475261"/>
                </a:solidFill>
                <a:latin typeface="Segoe UI"/>
              </a:rPr>
              <a:t>We reach them directly via Microsoft Graph.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29200"/>
            <a:ext cx="10872216" cy="914400"/>
          </a:xfrm>
          <a:prstGeom prst="roundRect">
            <a:avLst>
              <a:gd name="adj" fmla="val 6000"/>
            </a:avLst>
          </a:prstGeom>
          <a:solidFill>
            <a:srgbClr val="F1F6FE"/>
          </a:solidFill>
          <a:ln w="12700">
            <a:solidFill>
              <a:srgbClr val="C7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523036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1">
                <a:solidFill>
                  <a:srgbClr val="1E40AF"/>
                </a:solidFill>
                <a:latin typeface="Segoe UI"/>
              </a:rPr>
              <a:t>The question this concept answers:  can a Room Navigator still act as a room booking panel, with occupancy-driven room release, when it is never registered to Webex?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THE DEVICE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Three independent settings define a Room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Each is set locally over the xAPI or the device web interface. No cloud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C8795"/>
                </a:solidFill>
                <a:latin typeface="Segoe UI"/>
              </a:rPr>
              <a:t>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847088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C8795"/>
                </a:solidFill>
                <a:latin typeface="Segoe UI"/>
              </a:rPr>
              <a:t>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847088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C8795"/>
                </a:solidFill>
                <a:latin typeface="Segoe UI"/>
              </a:rPr>
              <a:t>WE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103120"/>
            <a:ext cx="850392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41B26"/>
                </a:solidFill>
                <a:latin typeface="Consolas"/>
              </a:rPr>
              <a:t>xCommand Provisioning SetType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39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C8795"/>
                </a:solidFill>
                <a:latin typeface="Segoe UI"/>
              </a:rPr>
              <a:t>Physical topology — no codec behind the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6771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261"/>
                </a:solidFill>
                <a:latin typeface="Consolas"/>
              </a:rPr>
              <a:t>PairedToCodec  /  Standalone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7808" y="2231136"/>
            <a:ext cx="1371600" cy="347472"/>
          </a:xfrm>
          <a:prstGeom prst="roundRect">
            <a:avLst>
              <a:gd name="adj" fmla="val 3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07808" y="22951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Standalone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246120"/>
            <a:ext cx="850392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341071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41B26"/>
                </a:solidFill>
                <a:latin typeface="Consolas"/>
              </a:rPr>
              <a:t>xCommand SystemUnit SetTouchPanelMode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49039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C8795"/>
                </a:solidFill>
                <a:latin typeface="Segoe UI"/>
              </a:rPr>
              <a:t>What the screen runs. Controller needs a codec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1071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261"/>
                </a:solidFill>
                <a:latin typeface="Consolas"/>
              </a:rPr>
              <a:t>Controller / Scheduler / PersistentWebApp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3374136"/>
            <a:ext cx="1371600" cy="347472"/>
          </a:xfrm>
          <a:prstGeom prst="roundRect">
            <a:avLst>
              <a:gd name="adj" fmla="val 3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07808" y="34381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PersistentWebApp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389120"/>
            <a:ext cx="850392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455371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41B26"/>
                </a:solidFill>
                <a:latin typeface="Consolas"/>
              </a:rPr>
              <a:t>xConfiguration Provisioning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9204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C8795"/>
                </a:solidFill>
                <a:latin typeface="Segoe UI"/>
              </a:rPr>
              <a:t>Off = “customer managed”. This is our zero-cloud switch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55371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261"/>
                </a:solidFill>
                <a:latin typeface="Consolas"/>
              </a:rPr>
              <a:t>Off  /  Auto  /  Webex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4517136"/>
            <a:ext cx="1371600" cy="347472"/>
          </a:xfrm>
          <a:prstGeom prst="roundRect">
            <a:avLst>
              <a:gd name="adj" fmla="val 3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07808" y="45811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Off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2103120"/>
            <a:ext cx="2203704" cy="3310128"/>
          </a:xfrm>
          <a:prstGeom prst="roundRect">
            <a:avLst>
              <a:gd name="adj" fmla="val 6000"/>
            </a:avLst>
          </a:prstGeom>
          <a:solidFill>
            <a:srgbClr val="10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555480" y="2377440"/>
            <a:ext cx="1783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Result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A wall panel we own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end to end.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No Webex account.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No Control Hub.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No cloud dependency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in the booking path.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577840"/>
            <a:ext cx="10872216" cy="749808"/>
          </a:xfrm>
          <a:prstGeom prst="roundRect">
            <a:avLst>
              <a:gd name="adj" fmla="val 6000"/>
            </a:avLst>
          </a:prstGeom>
          <a:solidFill>
            <a:srgbClr val="FFF8EB"/>
          </a:solidFill>
          <a:ln w="12700">
            <a:solidFill>
              <a:srgbClr val="F5D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60120" y="5742432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925F08"/>
                </a:solidFill>
                <a:latin typeface="Segoe UI"/>
              </a:rPr>
              <a:t>Trade-off:  in customer-managed mode Cisco documents the entire Bookings xAPI family as not applicable. We therefore build the booking UI ourselves — and Cisco's own setup guide prescribes exactly that.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What customer-managed mode gives and 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Taken from the Cisco Room Navigator (stand-alone) API Reference Guide, D15512.02, RoomOS 11.9.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5349240" cy="3749039"/>
          </a:xfrm>
          <a:prstGeom prst="roundRect">
            <a:avLst>
              <a:gd name="adj" fmla="val 6000"/>
            </a:avLst>
          </a:prstGeom>
          <a:solidFill>
            <a:srgbClr val="FEF4F4"/>
          </a:solidFill>
          <a:ln w="12700">
            <a:solidFill>
              <a:srgbClr val="F3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  <a:latin typeface="Segoe UI"/>
              </a:rPr>
              <a:t>NOT AVAILABLE   ·   customer managed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67004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91B1B"/>
                </a:solidFill>
                <a:latin typeface="Segoe UI"/>
              </a:rPr>
              <a:t>×   xCommand Bookings Put / Book / Delete / Get /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309067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91B1B"/>
                </a:solidFill>
                <a:latin typeface="Segoe UI"/>
              </a:rPr>
              <a:t>×   xCommand Bookings Respond / NotificationSnooze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51129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91B1B"/>
                </a:solidFill>
                <a:latin typeface="Segoe UI"/>
              </a:rPr>
              <a:t>×   xStatus Bookings Availability / Current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93192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91B1B"/>
                </a:solidFill>
                <a:latin typeface="Segoe UI"/>
              </a:rPr>
              <a:t>×   xConfiguration RoomScheduler Enabled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435254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91B1B"/>
                </a:solidFill>
                <a:latin typeface="Segoe UI"/>
              </a:rPr>
              <a:t>×   The native Cisco Room Scheduler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77316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91B1B"/>
                </a:solidFill>
                <a:latin typeface="Segoe UI"/>
              </a:rPr>
              <a:t>×   LED auto-driven from booking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23036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B45A5A"/>
                </a:solidFill>
                <a:latin typeface="Segoe UI"/>
              </a:rPr>
              <a:t>Each is marked “Doesn't apply for a customer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B45A5A"/>
                </a:solidFill>
                <a:latin typeface="Segoe UI"/>
              </a:rPr>
              <a:t>managed Room Navigator”.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011680"/>
            <a:ext cx="5349240" cy="3749039"/>
          </a:xfrm>
          <a:prstGeom prst="roundRect">
            <a:avLst>
              <a:gd name="adj" fmla="val 6000"/>
            </a:avLst>
          </a:prstGeom>
          <a:solidFill>
            <a:srgbClr val="F1F9F4"/>
          </a:solidFill>
          <a:ln w="12700">
            <a:solidFill>
              <a:srgbClr val="C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83096" y="221284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A34A"/>
                </a:solidFill>
                <a:latin typeface="Segoe UI"/>
              </a:rPr>
              <a:t>AVAILABLE   ·   and officially prescribed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267004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Persistent Web App — full-screen, undismissable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309067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Local xAPI over WebSocket, HTTP and SSH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351129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UserInterface LedControl Mode: 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393192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LedControl Color Set — Green / Yellow / Red / 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435254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Panel temperature and humidity sensors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477316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Full local admin, no cloud account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523036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E8A68"/>
                </a:solidFill>
                <a:latin typeface="Segoe UI"/>
              </a:rPr>
              <a:t>Cisco's own customer-managed walkthrough includes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E8A68"/>
                </a:solidFill>
                <a:latin typeface="Segoe UI"/>
              </a:rPr>
              <a:t>setting LedControl Mode to Manual.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One broker, two devices per room, one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Only the calendar lives outside. Everything else runs on your own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38528"/>
            <a:ext cx="3703320" cy="32004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5875">
            <a:solidFill>
              <a:srgbClr val="C9D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2066543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C8795"/>
                </a:solidFill>
                <a:latin typeface="Segoe UI"/>
              </a:rPr>
              <a:t>MEETING ROOM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87168"/>
            <a:ext cx="3273552" cy="1115568"/>
          </a:xfrm>
          <a:prstGeom prst="roundRect">
            <a:avLst>
              <a:gd name="adj" fmla="val 6000"/>
            </a:avLst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Room Navigator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53512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standalone · outside room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Persistent Web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" y="2560320"/>
            <a:ext cx="73152" cy="9692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68680" y="3858768"/>
            <a:ext cx="3273552" cy="1115568"/>
          </a:xfrm>
          <a:prstGeom prst="roundRect">
            <a:avLst>
              <a:gd name="adj" fmla="val 6000"/>
            </a:avLst>
          </a:prstGeom>
          <a:solidFill>
            <a:srgbClr val="1C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88720" y="40233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RoomOS video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25112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in room · has its own Navigator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occupancy source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907792"/>
            <a:ext cx="2377440" cy="16002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212080" y="3182112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Room Broker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56616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100"/>
              </a:spcAft>
            </a:pPr>
            <a:r>
              <a:rPr sz="1000" b="0">
                <a:solidFill>
                  <a:srgbClr val="D6E4FF"/>
                </a:solidFill>
                <a:latin typeface="Segoe UI"/>
              </a:rPr>
              <a:t>reconciler</a:t>
            </a:r>
          </a:p>
          <a:p>
            <a:pPr algn="ctr">
              <a:lnSpc>
                <a:spcPct val="130000"/>
              </a:lnSpc>
              <a:spcAft>
                <a:spcPts val="100"/>
              </a:spcAft>
            </a:pPr>
            <a:r>
              <a:rPr sz="1000" b="0">
                <a:solidFill>
                  <a:srgbClr val="D6E4FF"/>
                </a:solidFill>
                <a:latin typeface="Segoe UI"/>
              </a:rPr>
              <a:t>occupancy state machine</a:t>
            </a:r>
          </a:p>
          <a:p>
            <a:pPr algn="ctr">
              <a:lnSpc>
                <a:spcPct val="130000"/>
              </a:lnSpc>
              <a:spcAft>
                <a:spcPts val="100"/>
              </a:spcAft>
            </a:pPr>
            <a:r>
              <a:rPr sz="1000" b="0">
                <a:solidFill>
                  <a:srgbClr val="D6E4FF"/>
                </a:solidFill>
                <a:latin typeface="Segoe UI"/>
              </a:rPr>
              <a:t>calendar drivers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42232" y="3044952"/>
            <a:ext cx="932688" cy="246888"/>
          </a:xfrm>
          <a:prstGeom prst="line">
            <a:avLst/>
          </a:prstGeom>
          <a:ln w="19050">
            <a:solidFill>
              <a:srgbClr val="9CA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60520" y="2770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7C8795"/>
                </a:solidFill>
                <a:latin typeface="Segoe UI"/>
              </a:rPr>
              <a:t>UI + LED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142232" y="4114800"/>
            <a:ext cx="932688" cy="301752"/>
          </a:xfrm>
          <a:prstGeom prst="line">
            <a:avLst/>
          </a:prstGeom>
          <a:ln w="19050">
            <a:solidFill>
              <a:srgbClr val="9CA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60520" y="4471416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7C8795"/>
                </a:solidFill>
                <a:latin typeface="Segoe UI"/>
              </a:rPr>
              <a:t>sensors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1938528"/>
            <a:ext cx="3529584" cy="32004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0" y="2066543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C8795"/>
                </a:solidFill>
                <a:latin typeface="Segoe UI"/>
              </a:rPr>
              <a:t>CALENDAR SOURCE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487168"/>
            <a:ext cx="307238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30768" y="2651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B26"/>
                </a:solidFill>
                <a:latin typeface="Segoe UI"/>
              </a:rPr>
              <a:t>Exchange Online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294436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C8795"/>
                </a:solidFill>
                <a:latin typeface="Segoe UI"/>
              </a:rPr>
              <a:t>Microsoft Graph · app-only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566160"/>
            <a:ext cx="3072384" cy="429768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30768" y="3675887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261"/>
                </a:solidFill>
                <a:latin typeface="Segoe UI"/>
              </a:rPr>
              <a:t>Exchange on-prem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685032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EWS · streaming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087368"/>
            <a:ext cx="3072384" cy="429768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430768" y="4197096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261"/>
                </a:solidFill>
                <a:latin typeface="Segoe UI"/>
              </a:rPr>
              <a:t>Google Workspace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206240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sync tokens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4608576"/>
            <a:ext cx="3072384" cy="429768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30768" y="4718304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261"/>
                </a:solidFill>
                <a:latin typeface="Segoe UI"/>
              </a:rPr>
              <a:t>CalDAV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72744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Nextcloud / SOGo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7452360" y="3200400"/>
            <a:ext cx="548640" cy="502920"/>
          </a:xfrm>
          <a:prstGeom prst="line">
            <a:avLst/>
          </a:prstGeom>
          <a:ln w="19050">
            <a:solidFill>
              <a:srgbClr val="9CA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15200" y="3794760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7C8795"/>
                </a:solidFill>
                <a:latin typeface="Segoe UI"/>
              </a:rPr>
              <a:t>Graph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440680"/>
            <a:ext cx="10872216" cy="685800"/>
          </a:xfrm>
          <a:prstGeom prst="roundRect">
            <a:avLst>
              <a:gd name="adj" fmla="val 6000"/>
            </a:avLst>
          </a:prstGeom>
          <a:solidFill>
            <a:srgbClr val="F1F6FE"/>
          </a:solidFill>
          <a:ln w="12700">
            <a:solidFill>
              <a:srgbClr val="C7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60120" y="559612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E40AF"/>
                </a:solidFill>
                <a:latin typeface="Segoe UI"/>
              </a:rPr>
              <a:t>The panel and the video device never talk to each other. The broker is what joins them — replacing the Workspace association that Webex used to provide.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PANEL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The panel ·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Room free. LED green. Tapping a duration books the room instantly.</a:t>
            </a:r>
          </a:p>
        </p:txBody>
      </p:sp>
      <p:pic>
        <p:nvPicPr>
          <p:cNvPr id="6" name="Picture 5" descr="panel_avail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20240"/>
            <a:ext cx="6858000" cy="43466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2057400"/>
            <a:ext cx="3712463" cy="896112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0" y="219456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1B26"/>
                </a:solidFill>
                <a:latin typeface="Segoe UI"/>
              </a:rPr>
              <a:t>Ad-hoc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487168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C8795"/>
                </a:solidFill>
                <a:latin typeface="Segoe UI"/>
              </a:rPr>
              <a:t>15 / 30 / 60 min, or a custom slot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081528"/>
            <a:ext cx="3712463" cy="896112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0" y="3218688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1B26"/>
                </a:solidFill>
                <a:latin typeface="Segoe UI"/>
              </a:rPr>
              <a:t>Today's agenda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511296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C8795"/>
                </a:solidFill>
                <a:latin typeface="Segoe UI"/>
              </a:rPr>
              <a:t>read from the room mailbox via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105656"/>
            <a:ext cx="3712463" cy="896112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4242816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1B26"/>
                </a:solidFill>
                <a:latin typeface="Segoe UI"/>
              </a:rPr>
              <a:t>Panel sensors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535424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C8795"/>
                </a:solidFill>
                <a:latin typeface="Segoe UI"/>
              </a:rPr>
              <a:t>temperature and humidity come from the Navigator itself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5129784"/>
            <a:ext cx="3712463" cy="896112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0" y="5266944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1B26"/>
                </a:solidFill>
                <a:latin typeface="Segoe UI"/>
              </a:rPr>
              <a:t>LED strip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55955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C8795"/>
                </a:solidFill>
                <a:latin typeface="Segoe UI"/>
              </a:rPr>
              <a:t>Green — driven by the broker, not by RoomOS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PANEL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The panel · in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Meeting in progress and occupancy confirmed. LED red.</a:t>
            </a:r>
          </a:p>
        </p:txBody>
      </p:sp>
      <p:pic>
        <p:nvPicPr>
          <p:cNvPr id="6" name="Picture 5" descr="panel_in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20240"/>
            <a:ext cx="6858000" cy="43466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2057400"/>
            <a:ext cx="3712463" cy="896112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0" y="219456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1B26"/>
                </a:solidFill>
                <a:latin typeface="Segoe UI"/>
              </a:rPr>
              <a:t>Live occupancy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487168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C8795"/>
                </a:solidFill>
                <a:latin typeface="Segoe UI"/>
              </a:rPr>
              <a:t>people count streamed from the in-room video device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081528"/>
            <a:ext cx="3712463" cy="896112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0" y="3218688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1B26"/>
                </a:solidFill>
                <a:latin typeface="Segoe UI"/>
              </a:rPr>
              <a:t>Extend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511296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C8795"/>
                </a:solidFill>
                <a:latin typeface="Segoe UI"/>
              </a:rPr>
              <a:t>lengthens the booking if the next slot is 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105656"/>
            <a:ext cx="3712463" cy="896112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4242816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1B26"/>
                </a:solidFill>
                <a:latin typeface="Segoe UI"/>
              </a:rPr>
              <a:t>End &amp;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535424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C8795"/>
                </a:solidFill>
                <a:latin typeface="Segoe UI"/>
              </a:rPr>
              <a:t>frees the room immediately for everyone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5129784"/>
            <a:ext cx="3712463" cy="896112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0" y="5266944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1B26"/>
                </a:solidFill>
                <a:latin typeface="Segoe UI"/>
              </a:rPr>
              <a:t>LED strip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55955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C8795"/>
                </a:solidFill>
                <a:latin typeface="Segoe UI"/>
              </a:rPr>
              <a:t>Red — set by the broker on booking 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PANEL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The panel · check-in and auto-release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Booked but empty. The room is reclaimed if nobody shows up.</a:t>
            </a:r>
          </a:p>
        </p:txBody>
      </p:sp>
      <p:pic>
        <p:nvPicPr>
          <p:cNvPr id="6" name="Picture 5" descr="panel_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20240"/>
            <a:ext cx="6858000" cy="43466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2057400"/>
            <a:ext cx="3712463" cy="896112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0" y="219456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1B26"/>
                </a:solidFill>
                <a:latin typeface="Segoe UI"/>
              </a:rPr>
              <a:t>Check-in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487168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C8795"/>
                </a:solidFill>
                <a:latin typeface="Segoe UI"/>
              </a:rPr>
              <a:t>configurable, default 10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081528"/>
            <a:ext cx="3712463" cy="896112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0" y="3218688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1B26"/>
                </a:solidFill>
                <a:latin typeface="Segoe UI"/>
              </a:rPr>
              <a:t>Automatic check-in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511296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C8795"/>
                </a:solidFill>
                <a:latin typeface="Segoe UI"/>
              </a:rPr>
              <a:t>people count ≥ 1 for one continuous minute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105656"/>
            <a:ext cx="3712463" cy="896112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4242816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1B26"/>
                </a:solidFill>
                <a:latin typeface="Segoe UI"/>
              </a:rPr>
              <a:t>Visible countdown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535424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C8795"/>
                </a:solidFill>
                <a:latin typeface="Segoe UI"/>
              </a:rPr>
              <a:t>the user can always claim the room manually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5129784"/>
            <a:ext cx="3712463" cy="896112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0" y="5266944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1B26"/>
                </a:solidFill>
                <a:latin typeface="Segoe UI"/>
              </a:rPr>
              <a:t>LED strip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55955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C8795"/>
                </a:solidFill>
                <a:latin typeface="Segoe UI"/>
              </a:rPr>
              <a:t>Amber — booked, awaiting check-in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AVAILABILITY INDICATION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The LED strip stays, under our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Switch the strip to manual once at setup, then drive it from the broker.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10872216" cy="86868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4672" y="2066543"/>
            <a:ext cx="10579608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B26"/>
                </a:solidFill>
                <a:latin typeface="Consolas"/>
              </a:rPr>
              <a:t>xConfiguration UserInterface LedControl Mode: Manual        ← set once, part of Cisco's customer-managed setup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B26"/>
                </a:solidFill>
                <a:latin typeface="Consolas"/>
              </a:rPr>
              <a:t>xCommand UserInterface LedControl Color Set Color: Green|Yellow|Red|Off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063240"/>
            <a:ext cx="10872216" cy="658368"/>
          </a:xfrm>
          <a:prstGeom prst="roundRect">
            <a:avLst>
              <a:gd name="adj" fmla="val 6000"/>
            </a:avLst>
          </a:prstGeom>
          <a:solidFill>
            <a:srgbClr val="ECF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841248" y="3209544"/>
            <a:ext cx="118872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88720" y="326440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A34A"/>
                </a:solidFill>
                <a:latin typeface="Segoe UI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2644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1B26"/>
                </a:solidFill>
                <a:latin typeface="Segoe UI"/>
              </a:rPr>
              <a:t>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282696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261"/>
                </a:solidFill>
                <a:latin typeface="Segoe UI"/>
              </a:rPr>
              <a:t>No booking active, room free to take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13048"/>
            <a:ext cx="10872216" cy="658368"/>
          </a:xfrm>
          <a:prstGeom prst="roundRect">
            <a:avLst>
              <a:gd name="adj" fmla="val 6000"/>
            </a:avLst>
          </a:prstGeom>
          <a:solidFill>
            <a:srgbClr val="FFF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41248" y="3959352"/>
            <a:ext cx="118872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88720" y="4014215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D97706"/>
                </a:solidFill>
                <a:latin typeface="Segoe UI"/>
              </a:rPr>
              <a:t>Amber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014215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1B26"/>
                </a:solidFill>
                <a:latin typeface="Segoe UI"/>
              </a:rPr>
              <a:t>Booked, awaiting check-in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032504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261"/>
                </a:solidFill>
                <a:latin typeface="Segoe UI"/>
              </a:rPr>
              <a:t>Within the check-in window, nobody detected yet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562856"/>
            <a:ext cx="10872216" cy="658368"/>
          </a:xfrm>
          <a:prstGeom prst="roundRect">
            <a:avLst>
              <a:gd name="adj" fmla="val 6000"/>
            </a:avLst>
          </a:prstGeom>
          <a:solidFill>
            <a:srgbClr val="F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41248" y="4709160"/>
            <a:ext cx="118872" cy="3657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88720" y="476402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DC2626"/>
                </a:solidFill>
                <a:latin typeface="Segoe UI"/>
              </a:rPr>
              <a:t>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7640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1B26"/>
                </a:solidFill>
                <a:latin typeface="Segoe UI"/>
              </a:rPr>
              <a:t>In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782312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261"/>
                </a:solidFill>
                <a:latin typeface="Segoe UI"/>
              </a:rPr>
              <a:t>Meeting running, or occupancy confirmed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12664"/>
            <a:ext cx="10872216" cy="65836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41248" y="5458968"/>
            <a:ext cx="118872" cy="365760"/>
          </a:xfrm>
          <a:prstGeom prst="rect">
            <a:avLst/>
          </a:prstGeom>
          <a:solidFill>
            <a:srgbClr val="7C87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88720" y="55138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7C8795"/>
                </a:solidFill>
                <a:latin typeface="Segoe UI"/>
              </a:rPr>
              <a:t>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51383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1B26"/>
                </a:solidFill>
                <a:latin typeface="Segoe UI"/>
              </a:rPr>
              <a:t>Out of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553212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261"/>
                </a:solidFill>
                <a:latin typeface="Segoe UI"/>
              </a:rPr>
              <a:t>Panel unreachable or room disabled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172200"/>
            <a:ext cx="1087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C8795"/>
                </a:solidFill>
                <a:latin typeface="Segoe UI"/>
              </a:rPr>
              <a:t>Cisco's own description of Auto mode is “green: room available, red: room in use” — we reproduce the same semantics, sourced from our calendar and sensor state instead of theirs.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FLOW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Ad-hoc booking from the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User taps “Book 15 min” on a free room. Typical end-to-end time: under two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03120"/>
            <a:ext cx="166420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103120"/>
            <a:ext cx="1664208" cy="64008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86384" y="226771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2336292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2340864"/>
            <a:ext cx="1005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"/>
              </a:rPr>
              <a:t>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88920"/>
            <a:ext cx="138988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50" b="0">
                <a:solidFill>
                  <a:srgbClr val="475261"/>
                </a:solidFill>
                <a:latin typeface="Segoe UI"/>
              </a:rPr>
              <a:t>User taps a duration in the web app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59152" y="3063240"/>
            <a:ext cx="192024" cy="164592"/>
          </a:xfrm>
          <a:prstGeom prst="rightArrow">
            <a:avLst/>
          </a:prstGeom>
          <a:solidFill>
            <a:srgbClr val="C3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51176" y="2103120"/>
            <a:ext cx="166420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551176" y="2103120"/>
            <a:ext cx="1664208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679192" y="226771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79192" y="2336292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104" y="2340864"/>
            <a:ext cx="1005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Broker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788920"/>
            <a:ext cx="138988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50" b="0">
                <a:solidFill>
                  <a:srgbClr val="475261"/>
                </a:solidFill>
                <a:latin typeface="Segoe UI"/>
              </a:rPr>
              <a:t>Receives the request over the local network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251960" y="3063240"/>
            <a:ext cx="192024" cy="164592"/>
          </a:xfrm>
          <a:prstGeom prst="rightArrow">
            <a:avLst/>
          </a:prstGeom>
          <a:solidFill>
            <a:srgbClr val="C3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43983" y="2103120"/>
            <a:ext cx="166420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443983" y="2103120"/>
            <a:ext cx="1664208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4571999" y="226771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1999" y="2336292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2340864"/>
            <a:ext cx="1005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2788920"/>
            <a:ext cx="138988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50" b="0">
                <a:solidFill>
                  <a:srgbClr val="475261"/>
                </a:solidFill>
                <a:latin typeface="Segoe UI"/>
              </a:rPr>
              <a:t>Creates the event with the broker as organizer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50" b="0">
                <a:solidFill>
                  <a:srgbClr val="475261"/>
                </a:solidFill>
                <a:latin typeface="Segoe UI"/>
              </a:rPr>
              <a:t>and the room as a resource attendee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144768" y="3063240"/>
            <a:ext cx="192024" cy="164592"/>
          </a:xfrm>
          <a:prstGeom prst="rightArrow">
            <a:avLst/>
          </a:prstGeom>
          <a:solidFill>
            <a:srgbClr val="C3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2103120"/>
            <a:ext cx="166420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336792" y="2103120"/>
            <a:ext cx="1664208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64807" y="226771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64807" y="2336292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340864"/>
            <a:ext cx="1005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A34A"/>
                </a:solidFill>
                <a:latin typeface="Segoe UI"/>
              </a:rPr>
              <a:t>Exchange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2788920"/>
            <a:ext cx="138988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50" b="0">
                <a:solidFill>
                  <a:srgbClr val="475261"/>
                </a:solidFill>
                <a:latin typeface="Segoe UI"/>
              </a:rPr>
              <a:t>Resource booking attendant accepts or rejects —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50" b="0">
                <a:solidFill>
                  <a:srgbClr val="475261"/>
                </a:solidFill>
                <a:latin typeface="Segoe UI"/>
              </a:rPr>
              <a:t>this is what prevents double-booking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037575" y="3063240"/>
            <a:ext cx="192024" cy="164592"/>
          </a:xfrm>
          <a:prstGeom prst="rightArrow">
            <a:avLst/>
          </a:prstGeom>
          <a:solidFill>
            <a:srgbClr val="C3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0" y="2103120"/>
            <a:ext cx="166420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229600" y="2103120"/>
            <a:ext cx="1664208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357616" y="226771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57616" y="2336292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8" y="2340864"/>
            <a:ext cx="1005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Broker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2788920"/>
            <a:ext cx="138988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50" b="0">
                <a:solidFill>
                  <a:srgbClr val="475261"/>
                </a:solidFill>
                <a:latin typeface="Segoe UI"/>
              </a:rPr>
              <a:t>Re-reads calendarView, updates panel state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930384" y="3063240"/>
            <a:ext cx="192024" cy="164592"/>
          </a:xfrm>
          <a:prstGeom prst="rightArrow">
            <a:avLst/>
          </a:prstGeom>
          <a:solidFill>
            <a:srgbClr val="C3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122408" y="2103120"/>
            <a:ext cx="166420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0122408" y="2103120"/>
            <a:ext cx="1664208" cy="64008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10250424" y="226771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250424" y="2336292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89336" y="2340864"/>
            <a:ext cx="1005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"/>
              </a:rPr>
              <a:t>Panel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68712" y="2788920"/>
            <a:ext cx="138988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50" b="0">
                <a:solidFill>
                  <a:srgbClr val="475261"/>
                </a:solidFill>
                <a:latin typeface="Segoe UI"/>
              </a:rPr>
              <a:t>Shows “In use” · LED set to Red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4663440"/>
            <a:ext cx="10872216" cy="141732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60120" y="48463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1B26"/>
                </a:solidFill>
                <a:latin typeface="Segoe UI"/>
              </a:rPr>
              <a:t>Why the broker is the organizer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5193792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475261"/>
                </a:solidFill>
                <a:latin typeface="Segoe UI"/>
              </a:rPr>
              <a:t>A room mailbox can only decline its own copy of a meeting. Only the organizer can truly cancel one. Owning the organizer identity is what lets us release a room cleanly later.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846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1B26"/>
                </a:solidFill>
                <a:latin typeface="Segoe UI"/>
              </a:rPr>
              <a:t>Why we do not write to the room calendar directly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5193792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475261"/>
                </a:solidFill>
                <a:latin typeface="Segoe UI"/>
              </a:rPr>
              <a:t>Writing straight into the room mailbox bypasses the resource booking attendant, so conflict rules are never evaluated and a room that must never double-book, silently does.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FLOW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Occupancy-driven room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The ghost-meeting problem: a room booked, nobody turns up, and it stays blocked all afternoon.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084832"/>
            <a:ext cx="146304" cy="54864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33271" y="20665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600200" y="20482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1B26"/>
                </a:solidFill>
                <a:latin typeface="Segoe UI"/>
              </a:rPr>
              <a:t>Meeting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75688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261"/>
                </a:solidFill>
                <a:latin typeface="Segoe UI"/>
              </a:rPr>
              <a:t>Broker arms the check-in window and sets the LED amber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706624"/>
            <a:ext cx="146304" cy="54864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033271" y="26883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600200" y="267004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1B26"/>
                </a:solidFill>
                <a:latin typeface="Segoe UI"/>
              </a:rPr>
              <a:t>0 – 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9748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261"/>
                </a:solidFill>
                <a:latin typeface="Segoe UI"/>
              </a:rPr>
              <a:t>Panel shows “Check in”. People count polled from the in-room video device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3328416"/>
            <a:ext cx="146304" cy="54864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033271" y="33101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00200" y="32918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1B26"/>
                </a:solidFill>
                <a:latin typeface="Segoe UI"/>
              </a:rPr>
              <a:t>Someone arrives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319272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261"/>
                </a:solidFill>
                <a:latin typeface="Segoe UI"/>
              </a:rPr>
              <a:t>People count ≥ 1 for one continuous minute → automatic check-in, LED 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3950208"/>
            <a:ext cx="146304" cy="54864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033271" y="39319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600200" y="391363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1B26"/>
                </a:solidFill>
                <a:latin typeface="Segoe UI"/>
              </a:rPr>
              <a:t>Nobody arrives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94106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261"/>
                </a:solidFill>
                <a:latin typeface="Segoe UI"/>
              </a:rPr>
              <a:t>30-second countdown shown on the panel, then the room is released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4572000"/>
            <a:ext cx="146304" cy="54864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1033271" y="45537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600200" y="453542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1B26"/>
                </a:solidFill>
                <a:latin typeface="Segoe UI"/>
              </a:rPr>
              <a:t>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56285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261"/>
                </a:solidFill>
                <a:latin typeface="Segoe UI"/>
              </a:rPr>
              <a:t>Broker-owned booking is cancelled outright. User-organised booking has the room's copy declined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5193792"/>
            <a:ext cx="146304" cy="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033271" y="517550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600200" y="515721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1B26"/>
                </a:solidFill>
                <a:latin typeface="Segoe UI"/>
              </a:rPr>
              <a:t>Room freed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184648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261"/>
                </a:solidFill>
                <a:latin typeface="Segoe UI"/>
              </a:rPr>
              <a:t>LED back to green, slot immediately bookable by anyone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50992"/>
            <a:ext cx="10872216" cy="640080"/>
          </a:xfrm>
          <a:prstGeom prst="roundRect">
            <a:avLst>
              <a:gd name="adj" fmla="val 6000"/>
            </a:avLst>
          </a:prstGeom>
          <a:solidFill>
            <a:srgbClr val="FFF8EB"/>
          </a:solidFill>
          <a:ln w="12700">
            <a:solidFill>
              <a:srgbClr val="F5D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0120" y="577900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925F08"/>
                </a:solidFill>
                <a:latin typeface="Segoe UI"/>
              </a:rPr>
              <a:t>Honest limitation: for a meeting organised by a user in Outlook we can free the room, but we cannot delete their meeting. They get a decline notice and the entry stays on their own calendar.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Microsoft Graph — Exchange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App-only daemon, scoped so it can only ever touch room mailboxes.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352958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3529584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B26"/>
                </a:solidFill>
                <a:latin typeface="Segoe UI"/>
              </a:rPr>
              <a:t>Identity &amp;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303580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150" b="0">
                <a:solidFill>
                  <a:srgbClr val="475261"/>
                </a:solidFill>
                <a:latin typeface="Segoe UI"/>
              </a:rPr>
              <a:t>·  Entra app, client-credentials (app-only) flow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150" b="0">
                <a:solidFill>
                  <a:srgbClr val="475261"/>
                </a:solidFill>
                <a:latin typeface="Segoe UI"/>
              </a:rPr>
              <a:t>·  Place.Read.All — discover rooms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150" b="0">
                <a:solidFill>
                  <a:srgbClr val="475261"/>
                </a:solidFill>
                <a:latin typeface="Segoe UI"/>
              </a:rPr>
              <a:t>·  Calendars.ReadWrite — read and write bookings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150" b="0">
                <a:solidFill>
                  <a:srgbClr val="475261"/>
                </a:solidFill>
                <a:latin typeface="Segoe UI"/>
              </a:rPr>
              <a:t>·  Scoped with RBAC for Applications, so the app reaches only the room mailboxes, never the wider tenant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11680"/>
            <a:ext cx="352958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43400" y="2011680"/>
            <a:ext cx="3529584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99432" y="22677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B26"/>
                </a:solidFill>
                <a:latin typeface="Segoe UI"/>
              </a:rPr>
              <a:t>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724912"/>
            <a:ext cx="303580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150" b="0">
                <a:solidFill>
                  <a:srgbClr val="475261"/>
                </a:solidFill>
                <a:latin typeface="Segoe UI"/>
              </a:rPr>
              <a:t>·  calendarView — occurrences already expanded, including modified recurring instances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150" b="0">
                <a:solidFill>
                  <a:srgbClr val="475261"/>
                </a:solidFill>
                <a:latin typeface="Segoe UI"/>
              </a:rPr>
              <a:t>·  calendarView/delta for incremental sync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150" b="0">
                <a:solidFill>
                  <a:srgbClr val="475261"/>
                </a:solidFill>
                <a:latin typeface="Segoe UI"/>
              </a:rPr>
              <a:t>·  Polling every 1–5 min, so no public endpoint and no inbound firewall exposure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2011680"/>
            <a:ext cx="352958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8432" y="2011680"/>
            <a:ext cx="3529584" cy="640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4464" y="22677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B26"/>
                </a:solidFill>
                <a:latin typeface="Segoe UI"/>
              </a:rPr>
              <a:t>Writing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724912"/>
            <a:ext cx="303580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150" b="0">
                <a:solidFill>
                  <a:srgbClr val="475261"/>
                </a:solidFill>
                <a:latin typeface="Segoe UI"/>
              </a:rPr>
              <a:t>·  Create as organizer, room as resource attendee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150" b="0">
                <a:solidFill>
                  <a:srgbClr val="475261"/>
                </a:solidFill>
                <a:latin typeface="Segoe UI"/>
              </a:rPr>
              <a:t>·  Exchange arbitrates conflicts natively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150" b="0">
                <a:solidFill>
                  <a:srgbClr val="475261"/>
                </a:solidFill>
                <a:latin typeface="Segoe UI"/>
              </a:rPr>
              <a:t>·  Cancel our own bookings outright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150" b="0">
                <a:solidFill>
                  <a:srgbClr val="475261"/>
                </a:solidFill>
                <a:latin typeface="Segoe UI"/>
              </a:rPr>
              <a:t>·  Decline the room's copy for user-organised 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440680"/>
            <a:ext cx="10872216" cy="713232"/>
          </a:xfrm>
          <a:prstGeom prst="roundRect">
            <a:avLst>
              <a:gd name="adj" fmla="val 6000"/>
            </a:avLst>
          </a:prstGeom>
          <a:solidFill>
            <a:srgbClr val="F1F6FE"/>
          </a:solidFill>
          <a:ln w="12700">
            <a:solidFill>
              <a:srgbClr val="C7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5577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E40AF"/>
                </a:solidFill>
                <a:latin typeface="Segoe UI"/>
              </a:rPr>
              <a:t>Better privacy posture than before: Webex Hybrid Calendar required tenant-wide “read/write calendars in all mailboxes” consent. This design is restricted to the room mailboxes alone.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Pairing a panel, a video device and a mailbox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One screen defines a room: which panel, which sensor source, which calendar.</a:t>
            </a:r>
          </a:p>
        </p:txBody>
      </p:sp>
      <p:pic>
        <p:nvPicPr>
          <p:cNvPr id="6" name="Picture 5" descr="admin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1847088"/>
            <a:ext cx="7315200" cy="44413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What pairing actually configures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The broker validates each device on save, so misconfiguration is caught at setup rather than at 09:00 Monday.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0872216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73152" cy="987552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B26"/>
                </a:solidFill>
                <a:latin typeface="Segoe UI"/>
              </a:rPr>
              <a:t>Booking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194560"/>
            <a:ext cx="7772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475261"/>
                </a:solidFill>
                <a:latin typeface="Segoe UI"/>
              </a:rPr>
              <a:t>Verifies Provisioning Mode: Off, switches the panel to Persistent Web App mode, pushes the web app URL, and sets LedControl Mode to Manual.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08960"/>
            <a:ext cx="10872216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3108960"/>
            <a:ext cx="73152" cy="9875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32918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B26"/>
                </a:solidFill>
                <a:latin typeface="Segoe UI"/>
              </a:rPr>
              <a:t>Video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291840"/>
            <a:ext cx="7772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475261"/>
                </a:solidFill>
                <a:latin typeface="Segoe UI"/>
              </a:rPr>
              <a:t>Verifies RoomAnalytics PeopleCountOutOfCall is On, subscribes to people count and presence over the local xAPI. Optional — without it, release falls back to check-in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06240"/>
            <a:ext cx="10872216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58368" y="4206240"/>
            <a:ext cx="73152" cy="9875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560" y="4389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B26"/>
                </a:solidFill>
                <a:latin typeface="Segoe UI"/>
              </a:rPr>
              <a:t>Room mailbox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389120"/>
            <a:ext cx="7772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475261"/>
                </a:solidFill>
                <a:latin typeface="Segoe UI"/>
              </a:rPr>
              <a:t>Picked from rooms discovered through the Graph Places API. Confirms the token is valid and scoped to that mailbox before the room goes live.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303520"/>
            <a:ext cx="10872216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58368" y="5303520"/>
            <a:ext cx="73152" cy="9875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51560" y="54864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B26"/>
                </a:solidFill>
                <a:latin typeface="Segoe UI"/>
              </a:rPr>
              <a:t>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5486400"/>
            <a:ext cx="7772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475261"/>
                </a:solidFill>
                <a:latin typeface="Segoe UI"/>
              </a:rPr>
              <a:t>Check-in window, release-if-empty threshold, and how much meeting detail the panel is allowed to display in a public corridor.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Feature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What the concept delivers against what Webex did before.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5760720" cy="4069080"/>
          </a:xfrm>
          <a:prstGeom prst="roundRect">
            <a:avLst>
              <a:gd name="adj" fmla="val 6000"/>
            </a:avLst>
          </a:prstGeom>
          <a:solidFill>
            <a:srgbClr val="F1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78407" y="22402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A34A"/>
                </a:solidFill>
                <a:latin typeface="Segoe UI"/>
              </a:rPr>
              <a:t>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2697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Room status on a wall panel, with LED strip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3063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Ad-hoc booking from the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3429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Today's agenda from the room mailbox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3794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Extend and end-early from the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41605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Check-in and automatic room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45262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Occupancy from the in-room video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7" y="4892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Temperature and humidity on the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5257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Multi-calendar: Graph, EWS, Google, CalDAV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7" y="56235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6C43"/>
                </a:solidFill>
                <a:latin typeface="Segoe UI"/>
              </a:rPr>
              <a:t>✓   Central management and pairing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30568" y="2011680"/>
            <a:ext cx="4937760" cy="4069080"/>
          </a:xfrm>
          <a:prstGeom prst="roundRect">
            <a:avLst>
              <a:gd name="adj" fmla="val 6000"/>
            </a:avLst>
          </a:prstGeom>
          <a:solidFill>
            <a:srgbClr val="F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50607" y="224028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DC2626"/>
                </a:solidFill>
                <a:latin typeface="Segoe UI"/>
              </a:rPr>
              <a:t>LOST WITH WEBEX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7" y="26974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91B1B"/>
                </a:solidFill>
                <a:latin typeface="Segoe UI"/>
              </a:rPr>
              <a:t>×   Cisco's native Room Scheduler 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7" y="306324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91B1B"/>
                </a:solidFill>
                <a:latin typeface="Segoe UI"/>
              </a:rPr>
              <a:t>×   One Button To Push on the panel itself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7" y="342900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91B1B"/>
                </a:solidFill>
                <a:latin typeface="Segoe UI"/>
              </a:rPr>
              <a:t>×   Control Hub device management and firmware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7" y="379476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91B1B"/>
                </a:solidFill>
                <a:latin typeface="Segoe UI"/>
              </a:rPr>
              <a:t>×   Webex cloud analytics and workspace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7" y="416052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91B1B"/>
                </a:solidFill>
                <a:latin typeface="Segoe UI"/>
              </a:rPr>
              <a:t>×   Cisco TAC support for the booking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45262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91B1B"/>
                </a:solidFill>
                <a:latin typeface="Segoe UI"/>
              </a:rPr>
              <a:t>×   @webex / @meet keyword meeting rewriting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BEFORE COMMITTING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Open items and honest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Nothing here is a blocker, but each needs a decision or a lab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0872216" cy="978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73152" cy="9784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16712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41B26"/>
                </a:solidFill>
                <a:latin typeface="Segoe UI"/>
              </a:rPr>
              <a:t>Must be tested on real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57984"/>
            <a:ext cx="6309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75261"/>
                </a:solidFill>
                <a:latin typeface="Segoe UI"/>
              </a:rPr>
              <a:t>Cisco's stand-alone guide dates from April 2024 and has never been revised. The current xAPI schema lists the Bookings family for the Navigator without a customer-managed caveat. Worth one lab test: does Scheduler mode work unregistered? If it does, the native UI comes back on the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81528"/>
            <a:ext cx="10872216" cy="978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3081528"/>
            <a:ext cx="73152" cy="978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3236976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41B26"/>
                </a:solidFill>
                <a:latin typeface="Segoe UI"/>
              </a:rPr>
              <a:t>Ghost meetings on organiser calendars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27832"/>
            <a:ext cx="6309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75261"/>
                </a:solidFill>
                <a:latin typeface="Segoe UI"/>
              </a:rPr>
              <a:t>Releasing a user-organised meeting frees the room but leaves the entry on their calendar. A UX and comms decision, not a technical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51376"/>
            <a:ext cx="10872216" cy="978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58368" y="4151376"/>
            <a:ext cx="73152" cy="978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560" y="4306824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41B26"/>
                </a:solidFill>
                <a:latin typeface="Segoe UI"/>
              </a:rPr>
              <a:t>Sensor accuracy is unpublished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97680"/>
            <a:ext cx="6309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75261"/>
                </a:solidFill>
                <a:latin typeface="Segoe UI"/>
              </a:rPr>
              <a:t>Cisco publishes no figures for people-count latency or false negatives. Characterise in one pilot room before setting an aggressive release threshold.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221224"/>
            <a:ext cx="10872216" cy="978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58368" y="5221224"/>
            <a:ext cx="73152" cy="9784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51560" y="537667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41B26"/>
                </a:solidFill>
                <a:latin typeface="Segoe UI"/>
              </a:rPr>
              <a:t>We own what Cisco used to 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367528"/>
            <a:ext cx="6309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75261"/>
                </a:solidFill>
                <a:latin typeface="Segoe UI"/>
              </a:rPr>
              <a:t>Firmware updates, certificates, panel provisioning and support all become ours. This is the real cost of leaving the cloud, and it is ongoing rather than one-off.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B26"/>
                </a:solidFill>
                <a:latin typeface="Segoe UI"/>
              </a:rPr>
              <a:t>Proving it in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7C8795"/>
                </a:solidFill>
                <a:latin typeface="Segoe UI"/>
              </a:rPr>
              <a:t>Each stage is independently useful and independently abandonable.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03120"/>
            <a:ext cx="2066543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103120"/>
            <a:ext cx="2066543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41247" y="2304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247" y="239115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346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41B26"/>
                </a:solidFill>
                <a:latin typeface="Segoe UI"/>
              </a:rPr>
              <a:t>Spike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200400"/>
            <a:ext cx="1783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475261"/>
                </a:solidFill>
                <a:latin typeface="Segoe UI"/>
              </a:rPr>
              <a:t>One Navigator, customer managed, Persistent Web App.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475261"/>
                </a:solidFill>
                <a:latin typeface="Segoe UI"/>
              </a:rPr>
              <a:t>Prove the panel renders our UI and the LED responds to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475261"/>
                </a:solidFill>
                <a:latin typeface="Segoe UI"/>
              </a:rPr>
              <a:t>LedControl Color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7" y="4617720"/>
            <a:ext cx="1005840" cy="301752"/>
          </a:xfrm>
          <a:prstGeom prst="roundRect">
            <a:avLst>
              <a:gd name="adj" fmla="val 35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7" y="465886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7C8795"/>
                </a:solidFill>
                <a:latin typeface="Segoe UI"/>
              </a:rPr>
              <a:t>1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1215" y="2103120"/>
            <a:ext cx="2066543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871215" y="2103120"/>
            <a:ext cx="2066543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054096" y="2304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054096" y="239115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28346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41B26"/>
                </a:solidFill>
                <a:latin typeface="Segoe UI"/>
              </a:rPr>
              <a:t>Read-only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096" y="3200400"/>
            <a:ext cx="1783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475261"/>
                </a:solidFill>
                <a:latin typeface="Segoe UI"/>
              </a:rPr>
              <a:t>Graph driver against one room mailbox. Panel shows real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475261"/>
                </a:solidFill>
                <a:latin typeface="Segoe UI"/>
              </a:rPr>
              <a:t>bookings. No writes anywhere.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54096" y="4617720"/>
            <a:ext cx="1005840" cy="301752"/>
          </a:xfrm>
          <a:prstGeom prst="roundRect">
            <a:avLst>
              <a:gd name="adj" fmla="val 35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054096" y="465886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7C8795"/>
                </a:solidFill>
                <a:latin typeface="Segoe UI"/>
              </a:rPr>
              <a:t>1 week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4064" y="2103120"/>
            <a:ext cx="2066543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084064" y="2103120"/>
            <a:ext cx="2066543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266944" y="2304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266944" y="239115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6944" y="28346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41B26"/>
                </a:solidFill>
                <a:latin typeface="Segoe UI"/>
              </a:rPr>
              <a:t>Booking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6944" y="3200400"/>
            <a:ext cx="1783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475261"/>
                </a:solidFill>
                <a:latin typeface="Segoe UI"/>
              </a:rPr>
              <a:t>Ad-hoc booking from the panel, broker as organizer.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475261"/>
                </a:solidFill>
                <a:latin typeface="Segoe UI"/>
              </a:rPr>
              <a:t>Conflict handling via Exchange.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66944" y="4617720"/>
            <a:ext cx="1005840" cy="301752"/>
          </a:xfrm>
          <a:prstGeom prst="roundRect">
            <a:avLst>
              <a:gd name="adj" fmla="val 35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266944" y="465886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7C8795"/>
                </a:solidFill>
                <a:latin typeface="Segoe UI"/>
              </a:rPr>
              <a:t>2 weeks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6912" y="2103120"/>
            <a:ext cx="2066543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296912" y="2103120"/>
            <a:ext cx="2066543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7479792" y="2304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79792" y="239115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28346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41B26"/>
                </a:solidFill>
                <a:latin typeface="Segoe UI"/>
              </a:rPr>
              <a:t>Release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3200400"/>
            <a:ext cx="1783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475261"/>
                </a:solidFill>
                <a:latin typeface="Segoe UI"/>
              </a:rPr>
              <a:t>Subscribe to the video device, occupancy state machine,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475261"/>
                </a:solidFill>
                <a:latin typeface="Segoe UI"/>
              </a:rPr>
              <a:t>check-in and auto-release.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79792" y="4617720"/>
            <a:ext cx="1005840" cy="301752"/>
          </a:xfrm>
          <a:prstGeom prst="roundRect">
            <a:avLst>
              <a:gd name="adj" fmla="val 35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479792" y="465886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7C8795"/>
                </a:solidFill>
                <a:latin typeface="Segoe UI"/>
              </a:rPr>
              <a:t>2 weeks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2103120"/>
            <a:ext cx="2066543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509759" y="2103120"/>
            <a:ext cx="2066543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9692639" y="2304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692639" y="239115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39" y="28346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41B26"/>
                </a:solidFill>
                <a:latin typeface="Segoe UI"/>
              </a:rPr>
              <a:t>Scale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39" y="3200400"/>
            <a:ext cx="1783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475261"/>
                </a:solidFill>
                <a:latin typeface="Segoe UI"/>
              </a:rPr>
              <a:t>Management UI, additional calendar drivers,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475261"/>
                </a:solidFill>
                <a:latin typeface="Segoe UI"/>
              </a:rPr>
              <a:t>monitoring and alerting across all rooms.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92639" y="4617720"/>
            <a:ext cx="1005840" cy="301752"/>
          </a:xfrm>
          <a:prstGeom prst="roundRect">
            <a:avLst>
              <a:gd name="adj" fmla="val 35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692639" y="465886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7C8795"/>
                </a:solidFill>
                <a:latin typeface="Segoe UI"/>
              </a:rPr>
              <a:t>ongoing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440680"/>
            <a:ext cx="10872216" cy="777240"/>
          </a:xfrm>
          <a:prstGeom prst="roundRect">
            <a:avLst>
              <a:gd name="adj" fmla="val 6000"/>
            </a:avLst>
          </a:prstGeom>
          <a:solidFill>
            <a:srgbClr val="10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60120" y="5614416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Recommended first move: stage 1. One panel, one afternoon, and it settles the only genuinely open technical question in this deck.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Self-hosted room booking for Cisco RoomOS  ·  concept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6419088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7C8795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